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IBM Plex Sans"/>
      <p:regular r:id="rId13"/>
      <p:bold r:id="rId14"/>
      <p:italic r:id="rId15"/>
      <p:boldItalic r:id="rId16"/>
    </p:embeddedFont>
    <p:embeddedFont>
      <p:font typeface="Sora SemiBold"/>
      <p:regular r:id="rId17"/>
      <p:bold r:id="rId18"/>
    </p:embeddedFont>
    <p:embeddedFont>
      <p:font typeface="IBM Plex Sans Medium"/>
      <p:regular r:id="rId19"/>
      <p:bold r:id="rId20"/>
      <p:italic r:id="rId21"/>
      <p:boldItalic r:id="rId22"/>
    </p:embeddedFont>
    <p:embeddedFont>
      <p:font typeface="Sora Light"/>
      <p:regular r:id="rId23"/>
      <p:bold r:id="rId24"/>
    </p:embeddedFont>
    <p:embeddedFont>
      <p:font typeface="Sora ExtraLight"/>
      <p:regular r:id="rId25"/>
      <p:bold r:id="rId26"/>
    </p:embeddedFont>
    <p:embeddedFont>
      <p:font typeface="Sora"/>
      <p:regular r:id="rId27"/>
      <p:bold r:id="rId28"/>
    </p:embeddedFont>
    <p:embeddedFont>
      <p:font typeface="Sora Medium"/>
      <p:regular r:id="rId29"/>
      <p:bold r:id="rId30"/>
    </p:embeddedFont>
    <p:embeddedFont>
      <p:font typeface="IBM Plex Sans SemiBol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SansSemiBold-regular.fntdata"/><Relationship Id="rId30" Type="http://schemas.openxmlformats.org/officeDocument/2006/relationships/font" Target="fonts/SoraMedium-bold.fntdata"/><Relationship Id="rId33" Type="http://schemas.openxmlformats.org/officeDocument/2006/relationships/font" Target="fonts/IBMPlexSansSemiBold-italic.fntdata"/><Relationship Id="rId32" Type="http://schemas.openxmlformats.org/officeDocument/2006/relationships/font" Target="fonts/IBMPlexSansSemiBold-bold.fntdata"/><Relationship Id="rId34" Type="http://schemas.openxmlformats.org/officeDocument/2006/relationships/font" Target="fonts/IBMPlexSansSemiBold-boldItalic.fntdata"/><Relationship Id="rId20" Type="http://schemas.openxmlformats.org/officeDocument/2006/relationships/font" Target="fonts/IBMPlexSansMedium-bold.fntdata"/><Relationship Id="rId22" Type="http://schemas.openxmlformats.org/officeDocument/2006/relationships/font" Target="fonts/IBMPlexSansMedium-boldItalic.fntdata"/><Relationship Id="rId21" Type="http://schemas.openxmlformats.org/officeDocument/2006/relationships/font" Target="fonts/IBMPlexSansMedium-italic.fntdata"/><Relationship Id="rId24" Type="http://schemas.openxmlformats.org/officeDocument/2006/relationships/font" Target="fonts/SoraLight-bold.fntdata"/><Relationship Id="rId23" Type="http://schemas.openxmlformats.org/officeDocument/2006/relationships/font" Target="fonts/SoraLight-regular.fntdata"/><Relationship Id="rId26" Type="http://schemas.openxmlformats.org/officeDocument/2006/relationships/font" Target="fonts/SoraExtraLight-bold.fntdata"/><Relationship Id="rId25" Type="http://schemas.openxmlformats.org/officeDocument/2006/relationships/font" Target="fonts/SoraExtraLight-regular.fntdata"/><Relationship Id="rId28" Type="http://schemas.openxmlformats.org/officeDocument/2006/relationships/font" Target="fonts/Sora-bold.fntdata"/><Relationship Id="rId27" Type="http://schemas.openxmlformats.org/officeDocument/2006/relationships/font" Target="fonts/Sora-regular.fntdata"/><Relationship Id="rId29" Type="http://schemas.openxmlformats.org/officeDocument/2006/relationships/font" Target="fonts/SoraMedium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IBMPlexSans-regular.fntdata"/><Relationship Id="rId12" Type="http://schemas.openxmlformats.org/officeDocument/2006/relationships/slide" Target="slides/slide6.xml"/><Relationship Id="rId15" Type="http://schemas.openxmlformats.org/officeDocument/2006/relationships/font" Target="fonts/IBMPlexSans-italic.fntdata"/><Relationship Id="rId14" Type="http://schemas.openxmlformats.org/officeDocument/2006/relationships/font" Target="fonts/IBMPlexSans-bold.fntdata"/><Relationship Id="rId17" Type="http://schemas.openxmlformats.org/officeDocument/2006/relationships/font" Target="fonts/SoraSemiBold-regular.fntdata"/><Relationship Id="rId16" Type="http://schemas.openxmlformats.org/officeDocument/2006/relationships/font" Target="fonts/IBMPlexSans-boldItalic.fntdata"/><Relationship Id="rId19" Type="http://schemas.openxmlformats.org/officeDocument/2006/relationships/font" Target="fonts/IBMPlexSansMedium-regular.fntdata"/><Relationship Id="rId18" Type="http://schemas.openxmlformats.org/officeDocument/2006/relationships/font" Target="fonts/Sora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d1b61a8f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d1b61a8f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d1b61a8fd0_0_8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3d1b61a8fd0_0_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d1b61a8fd0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3d1b61a8fd0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d1b61a8fd0_0_9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3d1b61a8fd0_0_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d1b61a8fd0_0_9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3d1b61a8fd0_0_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d1b61a8fd0_0_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3d1b61a8fd0_0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0" name="Google Shape;60;p14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4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2" name="Google Shape;62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3" name="Google Shape;63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4" name="Google Shape;64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5" name="Google Shape;6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6" name="Google Shape;66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8" name="Google Shape;68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" name="Google Shape;73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" name="Google Shape;74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8" name="Google Shape;78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79" name="Google Shape;7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1" name="Google Shape;81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" name="Google Shape;82;p1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6" name="Google Shape;86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7" name="Google Shape;8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" name="Google Shape;92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" name="Google Shape;9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" name="Google Shape;98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" name="Google Shape;9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4" name="Google Shape;104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0" name="Google Shape;110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" name="Google Shape;113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6" name="Google Shape;116;p1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18" name="Google Shape;118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2" name="Google Shape;122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3" name="Google Shape;12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" name="Google Shape;12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8" name="Google Shape;128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9" name="Google Shape;12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4" name="Google Shape;134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5" name="Google Shape;135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0" name="Google Shape;140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" name="Google Shape;141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6" name="Google Shape;146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7" name="Google Shape;147;p1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" name="Google Shape;149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57" name="Google Shape;157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8" name="Google Shape;15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9" name="Google Shape;15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0" name="Google Shape;16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1" name="Google Shape;16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2" name="Google Shape;16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3" name="Google Shape;163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4" name="Google Shape;16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7" name="Google Shape;16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8" name="Google Shape;16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9" name="Google Shape;169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0" name="Google Shape;17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3" name="Google Shape;17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5" name="Google Shape;175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9" name="Google Shape;179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1" name="Google Shape;181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3" name="Google Shape;183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8" name="Google Shape;188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3" name="Google Shape;193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4" name="Google Shape;194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8" name="Google Shape;198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3" name="Google Shape;203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4" name="Google Shape;204;p17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05" name="Google Shape;205;p17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06" name="Google Shape;206;p1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07" name="Google Shape;207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09" name="Google Shape;209;p17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0" name="Google Shape;210;p1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3" name="Google Shape;213;p1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4" name="Google Shape;214;p1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5" name="Google Shape;215;p1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1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1" name="Google Shape;221;p1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2" name="Google Shape;222;p1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3" name="Google Shape;223;p1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4" name="Google Shape;224;p1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25" name="Google Shape;225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26" name="Google Shape;226;p1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3" name="Google Shape;233;p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39" name="Google Shape;239;p20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0" name="Google Shape;240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1" name="Google Shape;241;p20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47" name="Google Shape;247;p20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3" name="Google Shape;253;p20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54" name="Google Shape;254;p2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6" name="Google Shape;256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7" name="Google Shape;257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2" name="Google Shape;262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68" name="Google Shape;268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75" name="Google Shape;275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9" name="Google Shape;279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0" name="Google Shape;280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84" name="Google Shape;284;p2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6" name="Google Shape;286;p2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90" name="Google Shape;290;p23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91" name="Google Shape;291;p23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4" name="Google Shape;294;p23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3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3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3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3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3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0" name="Google Shape;30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01" name="Google Shape;30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02" name="Google Shape;30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03" name="Google Shape;303;p2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307" name="Google Shape;307;p24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24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3" name="Google Shape;323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24" name="Google Shape;324;p25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5" name="Google Shape;325;p25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26" name="Google Shape;326;p2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0" name="Google Shape;330;p25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6" name="Google Shape;336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37" name="Google Shape;337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38" name="Google Shape;33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2" name="Google Shape;342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7" name="Google Shape;347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48" name="Google Shape;34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52" name="Google Shape;352;p26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53" name="Google Shape;353;p26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4" name="Google Shape;354;p26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26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7" name="Google Shape;357;p2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1" name="Google Shape;361;p2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62" name="Google Shape;362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2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2" name="Google Shape;372;p2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3" name="Google Shape;373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5" name="Google Shape;375;p28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6" name="Google Shape;376;p28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7" name="Google Shape;377;p28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8" name="Google Shape;378;p28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9" name="Google Shape;379;p28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0" name="Google Shape;380;p28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1" name="Google Shape;381;p28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2" name="Google Shape;382;p28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3" name="Google Shape;383;p28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84" name="Google Shape;384;p2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2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9" name="Google Shape;389;p29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1" name="Google Shape;391;p29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3" name="Google Shape;393;p29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4" name="Google Shape;394;p2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5" name="Google Shape;395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29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29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29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29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29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29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29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29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9" name="Google Shape;409;p30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11" name="Google Shape;411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12" name="Google Shape;412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13" name="Google Shape;413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8" name="Google Shape;418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19" name="Google Shape;419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3" name="Google Shape;423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24" name="Google Shape;424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28" name="Google Shape;428;p30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0" name="Google Shape;430;p30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0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0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30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9" name="Google Shape;439;p3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0" name="Google Shape;440;p30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1" name="Google Shape;441;p3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9" name="Google Shape;449;p3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3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3" name="Google Shape;453;p3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3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3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p3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p3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0" name="Google Shape;460;p3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63" name="Google Shape;463;p32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64" name="Google Shape;464;p32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65" name="Google Shape;465;p3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32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7" name="Google Shape;467;p32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8" name="Google Shape;468;p32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9" name="Google Shape;469;p32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3" name="Google Shape;473;p32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4" name="Google Shape;474;p32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5" name="Google Shape;475;p32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6" name="Google Shape;476;p3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79" name="Google Shape;47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80" name="Google Shape;48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5" name="Google Shape;48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86" name="Google Shape;48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9" name="Google Shape;48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0" name="Google Shape;49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91" name="Google Shape;49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6" name="Google Shape;496;p3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7" name="Google Shape;497;p3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33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9" name="Google Shape;499;p3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00" name="Google Shape;500;p3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501" name="Google Shape;501;p3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04" name="Google Shape;504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5" name="Google Shape;505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5" name="Google Shape;515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6" name="Google Shape;516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20" name="Google Shape;520;p3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1" name="Google Shape;521;p3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3" name="Google Shape;523;p3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524" name="Google Shape;524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34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28" name="Google Shape;528;p34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29" name="Google Shape;529;p34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0" name="Google Shape;530;p34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38" name="Google Shape;538;p3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41" name="Google Shape;541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55" name="Google Shape;555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0" name="Google Shape;560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1" name="Google Shape;56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5" name="Google Shape;565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66" name="Google Shape;566;p35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67" name="Google Shape;567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68" name="Google Shape;568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9" name="Google Shape;56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4" name="Google Shape;574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5" name="Google Shape;57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0" name="Google Shape;580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1" name="Google Shape;58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6" name="Google Shape;586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2" name="Google Shape;592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93" name="Google Shape;593;p35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4" name="Google Shape;594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5" name="Google Shape;595;p35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6" name="Google Shape;596;p35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97" name="Google Shape;597;p3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9" name="Google Shape;599;p35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0" name="Google Shape;600;p35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1" name="Google Shape;601;p35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2" name="Google Shape;602;p35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3" name="Google Shape;603;p35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4" name="Google Shape;604;p35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5" name="Google Shape;605;p35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6" name="Google Shape;606;p35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7" name="Google Shape;607;p35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2" name="Google Shape;612;p36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36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4" name="Google Shape;614;p36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5" name="Google Shape;615;p36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9" name="Google Shape;619;p3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36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36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36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3" name="Google Shape;623;p36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4" name="Google Shape;624;p36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5" name="Google Shape;625;p36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6" name="Google Shape;626;p36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36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8" name="Google Shape;628;p36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7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1" name="Google Shape;631;p37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2" name="Google Shape;632;p37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37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4" name="Google Shape;634;p37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5" name="Google Shape;635;p3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37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7" name="Google Shape;637;p37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40" name="Google Shape;640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41" name="Google Shape;641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4" name="Google Shape;644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45" name="Google Shape;645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8" name="Google Shape;648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49" name="Google Shape;649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2" name="Google Shape;652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53" name="Google Shape;653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55" name="Google Shape;655;p38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56" name="Google Shape;656;p3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7" name="Google Shape;657;p38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8" name="Google Shape;658;p3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9" name="Google Shape;659;p3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0" name="Google Shape;660;p3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1" name="Google Shape;661;p3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2" name="Google Shape;662;p3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4" name="Google Shape;664;p38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5" name="Google Shape;665;p3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6" name="Google Shape;666;p38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7" name="Google Shape;667;p3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70" name="Google Shape;670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71" name="Google Shape;671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72" name="Google Shape;672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74" name="Google Shape;67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75" name="Google Shape;67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6" name="Google Shape;67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7" name="Google Shape;67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78" name="Google Shape;67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79" name="Google Shape;67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0" name="Google Shape;68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81" name="Google Shape;68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82" name="Google Shape;682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83" name="Google Shape;683;p39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4" name="Google Shape;684;p3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5" name="Google Shape;685;p39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6" name="Google Shape;686;p39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7" name="Google Shape;687;p39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8" name="Google Shape;688;p39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9" name="Google Shape;689;p39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90" name="Google Shape;690;p39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91" name="Google Shape;691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92" name="Google Shape;692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3" name="Google Shape;693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94" name="Google Shape;694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95" name="Google Shape;695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6" name="Google Shape;696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97" name="Google Shape;697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98" name="Google Shape;698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2" name="Google Shape;702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5" name="Google Shape;705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6" name="Google Shape;706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7" name="Google Shape;707;p39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8" name="Google Shape;708;p39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09" name="Google Shape;709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1" name="Google Shape;711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2" name="Google Shape;712;p39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3" name="Google Shape;713;p39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4" name="Google Shape;714;p39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39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39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7" name="Google Shape;717;p3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0" name="Google Shape;720;p40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1" name="Google Shape;721;p40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2" name="Google Shape;722;p40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23" name="Google Shape;723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24" name="Google Shape;724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25" name="Google Shape;725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6" name="Google Shape;72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7" name="Google Shape;727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1" name="Google Shape;73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2" name="Google Shape;732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33" name="Google Shape;73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6" name="Google Shape;736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2" name="Google Shape;742;p40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3" name="Google Shape;743;p40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4" name="Google Shape;744;p40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5" name="Google Shape;745;p40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4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7" name="Google Shape;747;p4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8" name="Google Shape;748;p4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49" name="Google Shape;749;p40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40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40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40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4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6" name="Google Shape;756;p41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7" name="Google Shape;757;p41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8" name="Google Shape;758;p41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9" name="Google Shape;759;p41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0" name="Google Shape;760;p4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61" name="Google Shape;761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2" name="Google Shape;762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63" name="Google Shape;763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64" name="Google Shape;764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6" name="Google Shape;766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67" name="Google Shape;767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0" name="Google Shape;77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1" name="Google Shape;771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72" name="Google Shape;772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5" name="Google Shape;775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76" name="Google Shape;776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7" name="Google Shape;777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81" name="Google Shape;781;p4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2" name="Google Shape;782;p4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3" name="Google Shape;783;p4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4" name="Google Shape;784;p4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5" name="Google Shape;785;p41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6" name="Google Shape;786;p41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7" name="Google Shape;787;p41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8" name="Google Shape;788;p41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9" name="Google Shape;789;p41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0" name="Google Shape;790;p41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1" name="Google Shape;791;p41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2" name="Google Shape;792;p41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3" name="Google Shape;793;p41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94" name="Google Shape;794;p4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7" name="Google Shape;797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98" name="Google Shape;798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99" name="Google Shape;799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0" name="Google Shape;800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1" name="Google Shape;801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2" name="Google Shape;80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3" name="Google Shape;80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04" name="Google Shape;804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5" name="Google Shape;805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6" name="Google Shape;80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8" name="Google Shape;80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9" name="Google Shape;80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0" name="Google Shape;810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11" name="Google Shape;811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2" name="Google Shape;812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3" name="Google Shape;813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4" name="Google Shape;814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5" name="Google Shape;815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16" name="Google Shape;81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8" name="Google Shape;81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9" name="Google Shape;81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0" name="Google Shape;820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1" name="Google Shape;821;p42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2" name="Google Shape;822;p42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3" name="Google Shape;823;p42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4" name="Google Shape;824;p42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5" name="Google Shape;825;p42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6" name="Google Shape;826;p42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7" name="Google Shape;827;p42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8" name="Google Shape;828;p42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9" name="Google Shape;829;p42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0" name="Google Shape;830;p42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1" name="Google Shape;831;p4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4" name="Google Shape;83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9" name="Google Shape;83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2" name="Google Shape;842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8" name="Google Shape;848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3" name="Google Shape;853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4" name="Google Shape;854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0" name="Google Shape;860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1" name="Google Shape;861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2" name="Google Shape;862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3" name="Google Shape;863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4" name="Google Shape;864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5" name="Google Shape;865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9" name="Google Shape;869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2" name="Google Shape;872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3" name="Google Shape;873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5" name="Google Shape;875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1" name="Google Shape;881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3" name="Google Shape;883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6" name="Google Shape;886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7" name="Google Shape;887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8" name="Google Shape;888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9" name="Google Shape;889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0" name="Google Shape;890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1" name="Google Shape;891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2" name="Google Shape;892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3" name="Google Shape;893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6" name="Google Shape;896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9" name="Google Shape;899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2" name="Google Shape;90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3" name="Google Shape;903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4" name="Google Shape;904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9" name="Google Shape;909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0" name="Google Shape;910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3" name="Google Shape;913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5" name="Google Shape;915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6" name="Google Shape;926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3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Monday - March 23, 2026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4" name="Google Shape;934;p63"/>
          <p:cNvSpPr txBox="1"/>
          <p:nvPr>
            <p:ph type="title"/>
          </p:nvPr>
        </p:nvSpPr>
        <p:spPr>
          <a:xfrm>
            <a:off x="130200" y="1895400"/>
            <a:ext cx="7266300" cy="212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Landscape Effects from Wildfires in California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35" name="Google Shape;935;p63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Jordyn Fulton | GEOL 4002 | Luttrell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64"/>
          <p:cNvSpPr txBox="1"/>
          <p:nvPr>
            <p:ph idx="2" type="title"/>
          </p:nvPr>
        </p:nvSpPr>
        <p:spPr>
          <a:xfrm>
            <a:off x="115025" y="502775"/>
            <a:ext cx="72261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4E13"/>
                </a:solidFill>
              </a:rPr>
              <a:t>Project Question: How is Sierra Nevada’s vegetation impacted by wildfires?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941" name="Google Shape;941;p64"/>
          <p:cNvSpPr txBox="1"/>
          <p:nvPr>
            <p:ph idx="4294967295" type="subTitle"/>
          </p:nvPr>
        </p:nvSpPr>
        <p:spPr>
          <a:xfrm>
            <a:off x="227700" y="2680675"/>
            <a:ext cx="4204200" cy="213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Transformational erosion and deposition can happen as a result of runoff being able to move fast with ground </a:t>
            </a: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cover</a:t>
            </a: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 foliage burned </a:t>
            </a: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 out of the way. </a:t>
            </a:r>
            <a:endParaRPr sz="11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[NAMES FROM ARIZONA] calculated and plotted the changes in surface detected by LiDAR in order to identify the resultant depositional formations found throughout the Chiricahua Mountains.</a:t>
            </a:r>
            <a:endParaRPr sz="11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100">
                <a:latin typeface="Sora Light"/>
                <a:ea typeface="Sora Light"/>
                <a:cs typeface="Sora Light"/>
                <a:sym typeface="Sora Light"/>
              </a:rPr>
              <a:t>Since California experiences fires more frequently, areas including SIerra Nevada are well recorded and available. As a result, this area was chosen  in hopes to see more identifiable evidences of erosion.</a:t>
            </a:r>
            <a:endParaRPr sz="1100"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42" name="Google Shape;942;p64"/>
          <p:cNvSpPr txBox="1"/>
          <p:nvPr>
            <p:ph idx="1" type="body"/>
          </p:nvPr>
        </p:nvSpPr>
        <p:spPr>
          <a:xfrm>
            <a:off x="135725" y="908969"/>
            <a:ext cx="8107500" cy="1269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Concept and Research Background Information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6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Acquire Data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Selected from 2020 and compared with 2022. A fire 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occurred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 in the area of study in 2021.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48" name="Google Shape;948;p6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Analyze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Compare the 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two images to try and identify any prominent indicators of erosion like gullies or rills. 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49" name="Google Shape;949;p65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Plot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Create Matlab script that will plot and take the difference between the two sets of data and create new graphics 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reflecting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 the overall change in time.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50" name="Google Shape;950;p65"/>
          <p:cNvSpPr txBox="1"/>
          <p:nvPr>
            <p:ph idx="5" type="title"/>
          </p:nvPr>
        </p:nvSpPr>
        <p:spPr>
          <a:xfrm>
            <a:off x="228600" y="495575"/>
            <a:ext cx="4639800" cy="1069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of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65"/>
          <p:cNvSpPr txBox="1"/>
          <p:nvPr>
            <p:ph idx="6" type="title"/>
          </p:nvPr>
        </p:nvSpPr>
        <p:spPr>
          <a:xfrm>
            <a:off x="3720025" y="1063050"/>
            <a:ext cx="48339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Sierra Nevada has been recording their wildfires </a:t>
            </a:r>
            <a:r>
              <a:rPr lang="en"/>
              <a:t>since</a:t>
            </a:r>
            <a:r>
              <a:rPr lang="en"/>
              <a:t> 1920!</a:t>
            </a:r>
            <a:endParaRPr/>
          </a:p>
        </p:txBody>
      </p:sp>
      <p:sp>
        <p:nvSpPr>
          <p:cNvPr id="952" name="Google Shape;952;p65"/>
          <p:cNvSpPr/>
          <p:nvPr/>
        </p:nvSpPr>
        <p:spPr>
          <a:xfrm flipH="1" rot="10800000">
            <a:off x="3720025" y="151521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66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Figure 1 &amp; 2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Digital Surface Model of portion of Sierra Nevada, California from 2020 and 2022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58" name="Google Shape;958;p66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Figure 3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Differenced Digital Surface Model of Sierra Nevada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59" name="Google Shape;959;p66"/>
          <p:cNvSpPr txBox="1"/>
          <p:nvPr>
            <p:ph idx="3" type="title"/>
          </p:nvPr>
        </p:nvSpPr>
        <p:spPr>
          <a:xfrm>
            <a:off x="115025" y="502775"/>
            <a:ext cx="39054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67"/>
          <p:cNvSpPr/>
          <p:nvPr/>
        </p:nvSpPr>
        <p:spPr>
          <a:xfrm flipH="1" rot="10800000">
            <a:off x="3820750" y="2732038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5" name="Google Shape;965;p67"/>
          <p:cNvSpPr/>
          <p:nvPr/>
        </p:nvSpPr>
        <p:spPr>
          <a:xfrm flipH="1" rot="10800000">
            <a:off x="3820750" y="354096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6" name="Google Shape;966;p67"/>
          <p:cNvSpPr/>
          <p:nvPr/>
        </p:nvSpPr>
        <p:spPr>
          <a:xfrm>
            <a:off x="228600" y="2127275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7" name="Google Shape;967;p67"/>
          <p:cNvSpPr/>
          <p:nvPr/>
        </p:nvSpPr>
        <p:spPr>
          <a:xfrm>
            <a:off x="228600" y="2936226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8" name="Google Shape;968;p67"/>
          <p:cNvSpPr/>
          <p:nvPr/>
        </p:nvSpPr>
        <p:spPr>
          <a:xfrm>
            <a:off x="228600" y="3745177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9" name="Google Shape;969;p67"/>
          <p:cNvSpPr/>
          <p:nvPr/>
        </p:nvSpPr>
        <p:spPr>
          <a:xfrm flipH="1" rot="10800000">
            <a:off x="3820750" y="194911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70" name="Google Shape;970;p67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67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67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67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67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Graphical Conclusions</a:t>
            </a: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75" name="Google Shape;975;p67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Further explanation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76" name="Google Shape;976;p67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67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67"/>
          <p:cNvSpPr txBox="1"/>
          <p:nvPr>
            <p:ph idx="13" type="title"/>
          </p:nvPr>
        </p:nvSpPr>
        <p:spPr>
          <a:xfrm>
            <a:off x="115025" y="502775"/>
            <a:ext cx="6440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Interpreting Results</a:t>
            </a:r>
            <a:endParaRPr/>
          </a:p>
        </p:txBody>
      </p:sp>
      <p:sp>
        <p:nvSpPr>
          <p:cNvPr id="979" name="Google Shape;979;p67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980" name="Google Shape;980;p67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981" name="Google Shape;981;p67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68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987" name="Google Shape;987;p68"/>
          <p:cNvSpPr txBox="1"/>
          <p:nvPr>
            <p:ph idx="4294967295" type="subTitle"/>
          </p:nvPr>
        </p:nvSpPr>
        <p:spPr>
          <a:xfrm>
            <a:off x="614250" y="3093425"/>
            <a:ext cx="7915500" cy="18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References:</a:t>
            </a:r>
            <a:endParaRPr b="1" sz="12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DeLong, Stephen B., et al. “Post-Wildfire Landscape Change and Erosional Processes from Repeat Terrestrial Lidar in a Steep Headwater Catchment, Chiricahua Mountains, Arizona, USA.” </a:t>
            </a:r>
            <a:r>
              <a:rPr i="1" lang="en" sz="11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Geomorphology</a:t>
            </a:r>
            <a:r>
              <a:rPr lang="en" sz="11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, vol. 300, Jan. 2018, pp. 13–30. </a:t>
            </a:r>
            <a:r>
              <a:rPr i="1" lang="en" sz="11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Science Direct</a:t>
            </a:r>
            <a:r>
              <a:rPr lang="en" sz="11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, https://doi.org/10.1016/j.geomorph.2017.09.028. Accessed 24 Mar. 2021.</a:t>
            </a:r>
            <a:endParaRPr sz="11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“Horseshoe Two Fire (2011) - Chiricahua National Monument (U.S. National Park Service).” </a:t>
            </a:r>
            <a:r>
              <a:rPr i="1" lang="en" sz="11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Nps.gov</a:t>
            </a:r>
            <a:r>
              <a:rPr lang="en" sz="11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, 2024, www.nps.gov/chir/learn/nature/horseshoe-two-fire-2011.htm. Accessed 23 Mar. 2026.</a:t>
            </a:r>
            <a:endParaRPr sz="11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Orr, Marissa. “Stanford Fire in Cochise County Grows to 160 Acres.” </a:t>
            </a:r>
            <a:r>
              <a:rPr i="1" lang="en" sz="11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KVOA</a:t>
            </a:r>
            <a:r>
              <a:rPr lang="en" sz="11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, 28 Oct. 2025, www.kvoa.com/news/cochisecounty/stanford-fire-in-cochise-county-grows-to-160-acres/article_a3e237ed-71fa-42e3-ade7-021124ce232f.html. Accessed 23 Mar. 2026.</a:t>
            </a:r>
            <a:endParaRPr sz="11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